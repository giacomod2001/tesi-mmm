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4506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44506B"/>
                </a:solidFill>
                <a:latin typeface="Calibri"/>
              </a:rPr>
              <a:t>Curve recovery — errore % nel range operativo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Errore medio curva di risposta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Indeed</c:v>
                  </c:pt>
                  <c:pt idx="1">
                    <c:v>Meta</c:v>
                  </c:pt>
                  <c:pt idx="2">
                    <c:v>LinkedIn</c:v>
                  </c:pt>
                  <c:pt idx="3">
                    <c:v>Google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6.7</c:v>
                </c:pt>
                <c:pt idx="1">
                  <c:v>17.5</c:v>
                </c:pt>
                <c:pt idx="2">
                  <c:v>18</c:v>
                </c:pt>
                <c:pt idx="3">
                  <c:v>24.8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4506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44506B"/>
                </a:solidFill>
                <a:latin typeface="Calibri"/>
              </a:rPr>
              <a:t>EUR / settimana per canale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Spesa corrente</c:v>
                </c:pt>
              </c:strCache>
            </c:strRef>
          </c:tx>
          <c:spPr>
            <a:solidFill>
              <a:srgbClr val="B9C8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Google</c:v>
                  </c:pt>
                  <c:pt idx="1">
                    <c:v>Meta</c:v>
                  </c:pt>
                  <c:pt idx="2">
                    <c:v>LinkedIn</c:v>
                  </c:pt>
                  <c:pt idx="3">
                    <c:v>Indeed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11228</c:v>
                </c:pt>
                <c:pt idx="1">
                  <c:v>8542</c:v>
                </c:pt>
                <c:pt idx="2">
                  <c:v>4724</c:v>
                </c:pt>
                <c:pt idx="3">
                  <c:v>7465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Spesa ottimale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Google</c:v>
                  </c:pt>
                  <c:pt idx="1">
                    <c:v>Meta</c:v>
                  </c:pt>
                  <c:pt idx="2">
                    <c:v>LinkedIn</c:v>
                  </c:pt>
                  <c:pt idx="3">
                    <c:v>Indeed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10785</c:v>
                </c:pt>
                <c:pt idx="1">
                  <c:v>12306</c:v>
                </c:pt>
                <c:pt idx="2">
                  <c:v>6799</c:v>
                </c:pt>
                <c:pt idx="3">
                  <c:v>7203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4506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Dati, modelli e decisioni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66928" y="2286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Modeling a supporto del budget digitale nel recruiting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caso Randstad Italia — pipeline e budget allocator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66928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 magistrale — Giacomo Dell'Acqua  ·  dati sintetici calibrati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35040" y="0"/>
            <a:ext cx="0" cy="0"/>
          </a:xfrm>
          <a:prstGeom prst="ellipse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6035040" y="0"/>
            <a:ext cx="0" cy="0"/>
          </a:xfrm>
          <a:prstGeom prst="ellipse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6035040" y="0"/>
            <a:ext cx="0" cy="0"/>
          </a:xfrm>
          <a:prstGeom prst="ellipse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6035040" y="0"/>
            <a:ext cx="0" cy="0"/>
          </a:xfrm>
          <a:prstGeom prst="ellipse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566928" y="3291840"/>
            <a:ext cx="1143000" cy="502920"/>
          </a:xfrm>
          <a:prstGeom prst="ellipse">
            <a:avLst/>
          </a:prstGeom>
          <a:solidFill>
            <a:srgbClr val="2A3A7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2918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92808" y="3291840"/>
            <a:ext cx="1143000" cy="502920"/>
          </a:xfrm>
          <a:prstGeom prst="ellipse">
            <a:avLst/>
          </a:prstGeom>
          <a:solidFill>
            <a:srgbClr val="2A3A7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2808" y="32918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18688" y="3291840"/>
            <a:ext cx="1143000" cy="502920"/>
          </a:xfrm>
          <a:prstGeom prst="ellipse">
            <a:avLst/>
          </a:prstGeom>
          <a:solidFill>
            <a:srgbClr val="2A3A7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32918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44568" y="3291840"/>
            <a:ext cx="1143000" cy="502920"/>
          </a:xfrm>
          <a:prstGeom prst="ellipse">
            <a:avLst/>
          </a:prstGeom>
          <a:solidFill>
            <a:srgbClr val="2A3A7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32918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problema: quale euro produce valore?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Last-click bias
</a:t>
            </a:r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L'attribuzione all'ultimo clic sottofinanzia i canali che generano la domanda (Meta, display) e premia chi la raccoglie (Indeed, Search).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4688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Metriche in silos
</a:t>
            </a:r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piattaforma sovrastima il proprio contributo: la somma delle conversioni dichiarate supera le candidature reali.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5661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post-cookie
</a:t>
            </a:r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ATT e blocco dei cookie hanno eroso il tracciamento individuale: servono modelli su dati aggregati.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468880" cy="3200400"/>
          </a:xfrm>
          <a:prstGeom prst="rect">
            <a:avLst/>
          </a:prstGeom>
          <a:solidFill>
            <a:srgbClr val="EFF4FE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600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 mld €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0936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spesa digital adv UE 2023 (IAB Europe)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09360" y="29718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45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«Metà del budget è sprecata; il problema è non sapere quale metà»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 funziona il modello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candidature(t) = baseline + controlli di domanda + somma canali: beta * Hill(Adstock(spesa))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481328" cy="2286000"/>
          </a:xfrm>
          <a:prstGeom prst="rect">
            <a:avLst/>
          </a:prstGeom>
          <a:solidFill>
            <a:srgbClr val="EFF4F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2377440"/>
            <a:ext cx="12618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Spesa per canale, candidature, serie esterne (Excel / CSV / PDF importati in automatico)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75104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8C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12848" y="1828800"/>
            <a:ext cx="1481328" cy="2286000"/>
          </a:xfrm>
          <a:prstGeom prst="rect">
            <a:avLst/>
          </a:prstGeom>
          <a:solidFill>
            <a:srgbClr val="EFF4FE"/>
          </a:solidFill>
          <a:ln/>
        </p:spPr>
      </p:sp>
      <p:sp>
        <p:nvSpPr>
          <p:cNvPr id="9" name="Text 7"/>
          <p:cNvSpPr/>
          <p:nvPr/>
        </p:nvSpPr>
        <p:spPr>
          <a:xfrm>
            <a:off x="2212848" y="19659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Adstock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22576" y="2377440"/>
            <a:ext cx="12618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pubblicità agisce anche dopo l'esposizione: memoria con decadimento λ per canale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39312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8C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77056" y="1828800"/>
            <a:ext cx="1481328" cy="2286000"/>
          </a:xfrm>
          <a:prstGeom prst="rect">
            <a:avLst/>
          </a:prstGeom>
          <a:solidFill>
            <a:srgbClr val="EFF4FE"/>
          </a:solidFill>
          <a:ln/>
        </p:spPr>
      </p:sp>
      <p:sp>
        <p:nvSpPr>
          <p:cNvPr id="13" name="Text 11"/>
          <p:cNvSpPr/>
          <p:nvPr/>
        </p:nvSpPr>
        <p:spPr>
          <a:xfrm>
            <a:off x="3877056" y="19659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Saturazione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86784" y="2377440"/>
            <a:ext cx="12618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Rendimenti decrescenti (curva di Hill): oltre una soglia ogni euro rende meno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0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8C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41264" y="1828800"/>
            <a:ext cx="1481328" cy="2286000"/>
          </a:xfrm>
          <a:prstGeom prst="rect">
            <a:avLst/>
          </a:prstGeom>
          <a:solidFill>
            <a:srgbClr val="EFF4FE"/>
          </a:solidFill>
          <a:ln/>
        </p:spPr>
      </p:sp>
      <p:sp>
        <p:nvSpPr>
          <p:cNvPr id="17" name="Text 15"/>
          <p:cNvSpPr/>
          <p:nvPr/>
        </p:nvSpPr>
        <p:spPr>
          <a:xfrm>
            <a:off x="5541264" y="19659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Stima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50992" y="2377440"/>
            <a:ext cx="12618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congiunto dei 24 parametri su 156 settimane, con vincoli informativi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67728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8C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05472" y="1828800"/>
            <a:ext cx="1481328" cy="2286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205472" y="19659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Allocazione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0" y="2377440"/>
            <a:ext cx="12618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Ottimizzatore vincolato: massimizza le candidature dato il budget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manager governa il processo: vincoli min/max per canale, budget per quarter o mese, variazione massima vs status quo (human-in-the-middle).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modello in numeri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0,97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del fit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65176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 medio (MAPE)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stimati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85800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settimane di dati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su dati sintetici con processo generativo noto: il modello recupera i coefficienti della domanda esterna (0,161 stimato vs 0,15 vero) e le curve di risposta nel range operativo (errore 7–25% per canale). Le curve, non i singoli parametri, guidano le decisioni.</a:t>
            </a:r>
            <a:endParaRPr lang="en-US" sz="12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3200400"/>
          <a:ext cx="786384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raccomandazione: riallocare a parità di budget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1206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143000"/>
            <a:ext cx="2743200" cy="3291840"/>
          </a:xfrm>
          <a:prstGeom prst="rect">
            <a:avLst/>
          </a:prstGeom>
          <a:solidFill>
            <a:srgbClr val="EFF4FE"/>
          </a:solidFill>
          <a:ln/>
        </p:spPr>
      </p:sp>
      <p:sp>
        <p:nvSpPr>
          <p:cNvPr id="5" name="Text 2"/>
          <p:cNvSpPr/>
          <p:nvPr/>
        </p:nvSpPr>
        <p:spPr>
          <a:xfrm>
            <a:off x="6035040" y="1325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+1,7%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12648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 attese in più, stessa spesa totale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72200" y="25146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+11%, LinkedIn +44%
</a:t>
            </a:r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 residuo sulle curve
</a:t>
            </a:r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−24%, Indeed −4%
</a:t>
            </a:r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vicini alla saturazione
</a:t>
            </a:r>
            <a:pPr indent="0" marL="0">
              <a:buNone/>
            </a:pPr>
            <a:r>
              <a:rPr lang="en-US" sz="10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marginale pareggiato a 7,1 cand./1.000 € su tutti i canali: condizione di ottimo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modello raccomanda, il manager decide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1828800"/>
          </a:xfrm>
          <a:prstGeom prst="rect">
            <a:avLst/>
          </a:prstGeom>
          <a:solidFill>
            <a:srgbClr val="2A3A7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508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manager fissa vincoli e budget: minimi contrattuali, tetti per canale, piano per quarter o mese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606040" cy="1828800"/>
          </a:xfrm>
          <a:prstGeom prst="rect">
            <a:avLst/>
          </a:prstGeom>
          <a:solidFill>
            <a:srgbClr val="2A3A7E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508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Durante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19202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stima le curve e trova l'allocazione ottima dentro quei vincoli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606040" cy="1828800"/>
          </a:xfrm>
          <a:prstGeom prst="rect">
            <a:avLst/>
          </a:prstGeom>
          <a:solidFill>
            <a:srgbClr val="2A3A7E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508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Dopo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63640" y="19202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manager valuta ciò che il modello non vede: contratti, brand, mercato — e decide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Prossimi passi:  migrazione bayesiana (PyMC-Marketing) per quantificare l'incertezza  ·  validazione su dati reali,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operativa per il team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pipeline Python modulare + app Streamlit + test riproducibili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MMM Budget Allocator - Randstad Italia</dc:title>
  <dc:subject>PptxGenJS Presentation</dc:subject>
  <dc:creator>Giacomo Dell'Acqua</dc:creator>
  <cp:lastModifiedBy>Giacomo Dell'Acqua</cp:lastModifiedBy>
  <cp:revision>1</cp:revision>
  <dcterms:created xsi:type="dcterms:W3CDTF">2026-06-09T22:50:05Z</dcterms:created>
  <dcterms:modified xsi:type="dcterms:W3CDTF">2026-06-09T22:50:05Z</dcterms:modified>
</cp:coreProperties>
</file>